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Urbanist Medium"/>
      <p:regular r:id="rId22"/>
      <p:bold r:id="rId23"/>
      <p:italic r:id="rId24"/>
      <p:boldItalic r:id="rId25"/>
    </p:embeddedFont>
    <p:embeddedFont>
      <p:font typeface="Urbanist SemiBold"/>
      <p:regular r:id="rId26"/>
      <p:bold r:id="rId27"/>
      <p:italic r:id="rId28"/>
      <p:boldItalic r:id="rId29"/>
    </p:embeddedFont>
    <p:embeddedFont>
      <p:font typeface="Urbanis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UrbanistMedium-regular.fntdata"/><Relationship Id="rId21" Type="http://schemas.openxmlformats.org/officeDocument/2006/relationships/slide" Target="slides/slide16.xml"/><Relationship Id="rId24" Type="http://schemas.openxmlformats.org/officeDocument/2006/relationships/font" Target="fonts/UrbanistMedium-italic.fntdata"/><Relationship Id="rId23" Type="http://schemas.openxmlformats.org/officeDocument/2006/relationships/font" Target="fonts/Urbanist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rbanistSemiBold-regular.fntdata"/><Relationship Id="rId25" Type="http://schemas.openxmlformats.org/officeDocument/2006/relationships/font" Target="fonts/UrbanistMedium-boldItalic.fntdata"/><Relationship Id="rId28" Type="http://schemas.openxmlformats.org/officeDocument/2006/relationships/font" Target="fonts/UrbanistSemiBold-italic.fntdata"/><Relationship Id="rId27" Type="http://schemas.openxmlformats.org/officeDocument/2006/relationships/font" Target="fonts/UrbanistSemiBol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UrbanistSemiBol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bold.fntdata"/><Relationship Id="rId30" Type="http://schemas.openxmlformats.org/officeDocument/2006/relationships/font" Target="fonts/Urbanist-regular.fntdata"/><Relationship Id="rId11" Type="http://schemas.openxmlformats.org/officeDocument/2006/relationships/slide" Target="slides/slide6.xml"/><Relationship Id="rId33" Type="http://schemas.openxmlformats.org/officeDocument/2006/relationships/font" Target="fonts/Urbanist-boldItalic.fntdata"/><Relationship Id="rId10" Type="http://schemas.openxmlformats.org/officeDocument/2006/relationships/slide" Target="slides/slide5.xml"/><Relationship Id="rId32" Type="http://schemas.openxmlformats.org/officeDocument/2006/relationships/font" Target="fonts/Urbanist-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b79015143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ab79015143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ab79015143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ab79015143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e6e09de4d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e6e09de4d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ad47d182b6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ad47d182b6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e6dd45be96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e6dd45be96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e6dd45be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e6dd45be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ad47d182b6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ad47d182b6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abaf82bd16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abaf82bd16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abaf82bd16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abaf82bd16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d47d182b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ad47d182b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e6dd45be96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e6dd45be9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6e09de4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e6e09de4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e6dd45be96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e6dd45be96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ad47d182b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ad47d182b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e6dd45be96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e6dd45be96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6e09de4d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e6e09de4d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2" name="Google Shape;82;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0" name="Google Shape;120;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8" name="Google Shape;158;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2" name="Google Shape;162;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1" name="Google Shape;181;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5" name="Google Shape;225;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7" name="Google Shape;247;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3" name="Google Shape;253;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8" name="Google Shape;268;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4" name="Google Shape;274;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9" name="Google Shape;299;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1" name="Google Shape;321;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drive.google.com/file/d/1JBgEKQ92yApIwTJrHwLZ7fJ0CrX8NiOe/view"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hyperlink" Target="http://drive.google.com/file/d/1lvJYZ6suVC67b7TY9wdtR6GPuRoCTdhp/view" TargetMode="External"/><Relationship Id="rId7"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drive.google.com/file/d/1ewzNq6ybgYu_oSC5r_i7Q3i0rT8HhO99/view" TargetMode="External"/><Relationship Id="rId4"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drive.google.com/file/d/1p0Fj2BrEmGdVeL7t86nSaxVLlRBgVkOj/view" TargetMode="External"/><Relationship Id="rId4" Type="http://schemas.openxmlformats.org/officeDocument/2006/relationships/image" Target="../media/image20.jpg"/><Relationship Id="rId9" Type="http://schemas.openxmlformats.org/officeDocument/2006/relationships/hyperlink" Target="http://drive.google.com/file/d/1bFDyoLQlvVNztcA0AdLS28oMvXh9kqEH/view" TargetMode="External"/><Relationship Id="rId5" Type="http://schemas.openxmlformats.org/officeDocument/2006/relationships/hyperlink" Target="http://drive.google.com/file/d/1F5gWmHeP2Ix5UtCcUyXXcG5UdN4HS8wm/view" TargetMode="External"/><Relationship Id="rId6" Type="http://schemas.openxmlformats.org/officeDocument/2006/relationships/image" Target="../media/image15.jpg"/><Relationship Id="rId7" Type="http://schemas.openxmlformats.org/officeDocument/2006/relationships/hyperlink" Target="http://drive.google.com/file/d/1BffrD7cDThuNrmxsloxz7irccUbkBZAe/view" TargetMode="External"/><Relationship Id="rId8" Type="http://schemas.openxmlformats.org/officeDocument/2006/relationships/image" Target="../media/image9.jpg"/><Relationship Id="rId10"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1"/>
          <p:cNvSpPr/>
          <p:nvPr/>
        </p:nvSpPr>
        <p:spPr>
          <a:xfrm>
            <a:off x="228600"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sp>
        <p:nvSpPr>
          <p:cNvPr id="438" name="Google Shape;438;p41"/>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Tidal Hunters</a:t>
            </a:r>
            <a:endParaRPr>
              <a:solidFill>
                <a:schemeClr val="lt1"/>
              </a:solidFill>
            </a:endParaRPr>
          </a:p>
        </p:txBody>
      </p:sp>
      <p:sp>
        <p:nvSpPr>
          <p:cNvPr id="439" name="Google Shape;439;p41"/>
          <p:cNvSpPr txBox="1"/>
          <p:nvPr>
            <p:ph idx="1" type="subTitle"/>
          </p:nvPr>
        </p:nvSpPr>
        <p:spPr>
          <a:xfrm>
            <a:off x="228600" y="1738950"/>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chemeClr val="lt1"/>
                </a:solidFill>
                <a:latin typeface="Urbanist Medium"/>
                <a:ea typeface="Urbanist Medium"/>
                <a:cs typeface="Urbanist Medium"/>
                <a:sym typeface="Urbanist Medium"/>
              </a:rPr>
              <a:t>Individual Game assignment</a:t>
            </a:r>
            <a:endParaRPr>
              <a:solidFill>
                <a:schemeClr val="lt1"/>
              </a:solidFill>
              <a:latin typeface="Urbanist Medium"/>
              <a:ea typeface="Urbanist Medium"/>
              <a:cs typeface="Urbanist Medium"/>
              <a:sym typeface="Urbanist Medium"/>
            </a:endParaRPr>
          </a:p>
        </p:txBody>
      </p:sp>
      <p:sp>
        <p:nvSpPr>
          <p:cNvPr id="440" name="Google Shape;440;p41"/>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Jojo Noyes</a:t>
            </a:r>
            <a:endParaRPr/>
          </a:p>
        </p:txBody>
      </p:sp>
      <p:sp>
        <p:nvSpPr>
          <p:cNvPr id="441" name="Google Shape;441;p41"/>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Presented by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2"/>
          <p:cNvSpPr txBox="1"/>
          <p:nvPr>
            <p:ph type="title"/>
          </p:nvPr>
        </p:nvSpPr>
        <p:spPr>
          <a:xfrm>
            <a:off x="381000" y="609600"/>
            <a:ext cx="3848400" cy="4449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t>Overview</a:t>
            </a:r>
            <a:endParaRPr/>
          </a:p>
        </p:txBody>
      </p:sp>
      <p:sp>
        <p:nvSpPr>
          <p:cNvPr id="447" name="Google Shape;447;p42"/>
          <p:cNvSpPr txBox="1"/>
          <p:nvPr>
            <p:ph idx="4294967295" type="body"/>
          </p:nvPr>
        </p:nvSpPr>
        <p:spPr>
          <a:xfrm>
            <a:off x="281775" y="1111775"/>
            <a:ext cx="5679000" cy="2629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None/>
            </a:pPr>
            <a:r>
              <a:rPr b="1" lang="en" sz="1100">
                <a:latin typeface="Arial"/>
                <a:ea typeface="Arial"/>
                <a:cs typeface="Arial"/>
                <a:sym typeface="Arial"/>
              </a:rPr>
              <a:t>Tidal Hunters</a:t>
            </a:r>
            <a:r>
              <a:rPr lang="en" sz="1100">
                <a:latin typeface="Arial"/>
                <a:ea typeface="Arial"/>
                <a:cs typeface="Arial"/>
                <a:sym typeface="Arial"/>
              </a:rPr>
              <a:t> is a cooperative, online, networked </a:t>
            </a:r>
            <a:r>
              <a:rPr b="1" lang="en" sz="1100">
                <a:latin typeface="Arial"/>
                <a:ea typeface="Arial"/>
                <a:cs typeface="Arial"/>
                <a:sym typeface="Arial"/>
              </a:rPr>
              <a:t>sci-fi FPS</a:t>
            </a:r>
            <a:r>
              <a:rPr lang="en" sz="1100">
                <a:latin typeface="Arial"/>
                <a:ea typeface="Arial"/>
                <a:cs typeface="Arial"/>
                <a:sym typeface="Arial"/>
              </a:rPr>
              <a:t> with a strong focus on </a:t>
            </a:r>
            <a:r>
              <a:rPr b="1" lang="en" sz="1100">
                <a:latin typeface="Arial"/>
                <a:ea typeface="Arial"/>
                <a:cs typeface="Arial"/>
                <a:sym typeface="Arial"/>
              </a:rPr>
              <a:t>boss-rush combat</a:t>
            </a:r>
            <a:r>
              <a:rPr lang="en" sz="1100">
                <a:latin typeface="Arial"/>
                <a:ea typeface="Arial"/>
                <a:cs typeface="Arial"/>
                <a:sym typeface="Arial"/>
              </a:rPr>
              <a:t>. The game blends mechanical inspirations from </a:t>
            </a:r>
            <a:r>
              <a:rPr i="1" lang="en" sz="1100">
                <a:latin typeface="Arial"/>
                <a:ea typeface="Arial"/>
                <a:cs typeface="Arial"/>
                <a:sym typeface="Arial"/>
              </a:rPr>
              <a:t>Helldivers 2</a:t>
            </a:r>
            <a:r>
              <a:rPr lang="en" sz="1100">
                <a:latin typeface="Arial"/>
                <a:ea typeface="Arial"/>
                <a:cs typeface="Arial"/>
                <a:sym typeface="Arial"/>
              </a:rPr>
              <a:t>, </a:t>
            </a:r>
            <a:r>
              <a:rPr i="1" lang="en" sz="1100">
                <a:latin typeface="Arial"/>
                <a:ea typeface="Arial"/>
                <a:cs typeface="Arial"/>
                <a:sym typeface="Arial"/>
              </a:rPr>
              <a:t>Elden Ring</a:t>
            </a:r>
            <a:r>
              <a:rPr lang="en" sz="1100">
                <a:latin typeface="Arial"/>
                <a:ea typeface="Arial"/>
                <a:cs typeface="Arial"/>
                <a:sym typeface="Arial"/>
              </a:rPr>
              <a:t>, and other co-op action titles to create challenging, team-based encounters.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None/>
            </a:pPr>
            <a:r>
              <a:rPr lang="en" sz="1100">
                <a:latin typeface="Arial"/>
                <a:ea typeface="Arial"/>
                <a:cs typeface="Arial"/>
                <a:sym typeface="Arial"/>
              </a:rPr>
              <a:t>The game’s </a:t>
            </a:r>
            <a:r>
              <a:rPr b="1" lang="en" sz="1100">
                <a:latin typeface="Arial"/>
                <a:ea typeface="Arial"/>
                <a:cs typeface="Arial"/>
                <a:sym typeface="Arial"/>
              </a:rPr>
              <a:t>theme</a:t>
            </a:r>
            <a:r>
              <a:rPr lang="en" sz="1100">
                <a:latin typeface="Arial"/>
                <a:ea typeface="Arial"/>
                <a:cs typeface="Arial"/>
                <a:sym typeface="Arial"/>
              </a:rPr>
              <a:t> centers around </a:t>
            </a:r>
            <a:r>
              <a:rPr b="1" lang="en" sz="1100">
                <a:latin typeface="Arial"/>
                <a:ea typeface="Arial"/>
                <a:cs typeface="Arial"/>
                <a:sym typeface="Arial"/>
              </a:rPr>
              <a:t>hyper-urbanization, corporate domination, and religious horror</a:t>
            </a:r>
            <a:r>
              <a:rPr lang="en" sz="1100">
                <a:latin typeface="Arial"/>
                <a:ea typeface="Arial"/>
                <a:cs typeface="Arial"/>
                <a:sym typeface="Arial"/>
              </a:rPr>
              <a:t>, expressed through world-building and lore.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None/>
            </a:pPr>
            <a:r>
              <a:rPr lang="en" sz="1100">
                <a:latin typeface="Arial"/>
                <a:ea typeface="Arial"/>
                <a:cs typeface="Arial"/>
                <a:sym typeface="Arial"/>
              </a:rPr>
              <a:t>Its </a:t>
            </a:r>
            <a:r>
              <a:rPr b="1" lang="en" sz="1100">
                <a:latin typeface="Arial"/>
                <a:ea typeface="Arial"/>
                <a:cs typeface="Arial"/>
                <a:sym typeface="Arial"/>
              </a:rPr>
              <a:t>visual style</a:t>
            </a:r>
            <a:r>
              <a:rPr lang="en" sz="1100">
                <a:latin typeface="Arial"/>
                <a:ea typeface="Arial"/>
                <a:cs typeface="Arial"/>
                <a:sym typeface="Arial"/>
              </a:rPr>
              <a:t> aims for </a:t>
            </a:r>
            <a:r>
              <a:rPr b="1" lang="en" sz="1100">
                <a:latin typeface="Arial"/>
                <a:ea typeface="Arial"/>
                <a:cs typeface="Arial"/>
                <a:sym typeface="Arial"/>
              </a:rPr>
              <a:t>gritty, stylized realism</a:t>
            </a:r>
            <a:r>
              <a:rPr lang="en" sz="1100">
                <a:latin typeface="Arial"/>
                <a:ea typeface="Arial"/>
                <a:cs typeface="Arial"/>
                <a:sym typeface="Arial"/>
              </a:rPr>
              <a:t>, taking influence from </a:t>
            </a:r>
            <a:r>
              <a:rPr i="1" lang="en" sz="1100">
                <a:latin typeface="Arial"/>
                <a:ea typeface="Arial"/>
                <a:cs typeface="Arial"/>
                <a:sym typeface="Arial"/>
              </a:rPr>
              <a:t>Helldivers 2</a:t>
            </a:r>
            <a:r>
              <a:rPr lang="en" sz="1100">
                <a:latin typeface="Arial"/>
                <a:ea typeface="Arial"/>
                <a:cs typeface="Arial"/>
                <a:sym typeface="Arial"/>
              </a:rPr>
              <a:t> and other futuristic military aesthetics. Weapons and technology draw inspiration from various sci-fi media.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None/>
            </a:pPr>
            <a:r>
              <a:rPr lang="en" sz="1100">
                <a:latin typeface="Arial"/>
                <a:ea typeface="Arial"/>
                <a:cs typeface="Arial"/>
                <a:sym typeface="Arial"/>
              </a:rPr>
              <a:t>Overall, </a:t>
            </a:r>
            <a:r>
              <a:rPr b="1" lang="en" sz="1100">
                <a:latin typeface="Arial"/>
                <a:ea typeface="Arial"/>
                <a:cs typeface="Arial"/>
                <a:sym typeface="Arial"/>
              </a:rPr>
              <a:t>Tidal Hunters</a:t>
            </a:r>
            <a:r>
              <a:rPr lang="en" sz="1100">
                <a:latin typeface="Arial"/>
                <a:ea typeface="Arial"/>
                <a:cs typeface="Arial"/>
                <a:sym typeface="Arial"/>
              </a:rPr>
              <a:t> is designed as a cooperative FPS experience built around intense boss fights, lore-driven worldbuilding, and a grounded but stylized sci-fi tone.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None/>
            </a:pPr>
            <a:r>
              <a:t/>
            </a:r>
            <a:endParaRPr/>
          </a:p>
        </p:txBody>
      </p:sp>
      <p:sp>
        <p:nvSpPr>
          <p:cNvPr id="448" name="Google Shape;448;p42"/>
          <p:cNvSpPr txBox="1"/>
          <p:nvPr>
            <p:ph idx="1" type="subTitle"/>
          </p:nvPr>
        </p:nvSpPr>
        <p:spPr>
          <a:xfrm>
            <a:off x="387975" y="381000"/>
            <a:ext cx="28701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Tidal Hunters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3"/>
          <p:cNvSpPr txBox="1"/>
          <p:nvPr>
            <p:ph type="title"/>
          </p:nvPr>
        </p:nvSpPr>
        <p:spPr>
          <a:xfrm>
            <a:off x="0" y="-56625"/>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Demo</a:t>
            </a:r>
            <a:endParaRPr/>
          </a:p>
        </p:txBody>
      </p:sp>
      <p:pic>
        <p:nvPicPr>
          <p:cNvPr id="454" name="Google Shape;454;p43" title="GamePlayDemo.mp4">
            <a:hlinkClick r:id="rId3"/>
          </p:cNvPr>
          <p:cNvPicPr preferRelativeResize="0"/>
          <p:nvPr/>
        </p:nvPicPr>
        <p:blipFill>
          <a:blip r:embed="rId4">
            <a:alphaModFix/>
          </a:blip>
          <a:stretch>
            <a:fillRect/>
          </a:stretch>
        </p:blipFill>
        <p:spPr>
          <a:xfrm>
            <a:off x="2286000" y="0"/>
            <a:ext cx="6858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1000"/>
                                        <p:tgtEl>
                                          <p:spTgt spid="4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4"/>
          <p:cNvSpPr txBox="1"/>
          <p:nvPr>
            <p:ph type="title"/>
          </p:nvPr>
        </p:nvSpPr>
        <p:spPr>
          <a:xfrm>
            <a:off x="228600" y="228600"/>
            <a:ext cx="66588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Production Cycle</a:t>
            </a:r>
            <a:endParaRPr/>
          </a:p>
        </p:txBody>
      </p:sp>
      <p:sp>
        <p:nvSpPr>
          <p:cNvPr id="460" name="Google Shape;460;p44"/>
          <p:cNvSpPr txBox="1"/>
          <p:nvPr/>
        </p:nvSpPr>
        <p:spPr>
          <a:xfrm>
            <a:off x="228600" y="862500"/>
            <a:ext cx="8539200" cy="22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Let take a look at how I attack issues.</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Get an idea (multiplayer game, invite menu, boss fight)</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Figure out how it works (Chat GPT, Youtube, Professionals, ect.)</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Make a prototype on paper or mentally</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Try to make it</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For </a:t>
            </a:r>
            <a:r>
              <a:rPr lang="en" sz="1200">
                <a:solidFill>
                  <a:schemeClr val="lt1"/>
                </a:solidFill>
                <a:latin typeface="Urbanist"/>
                <a:ea typeface="Urbanist"/>
                <a:cs typeface="Urbanist"/>
                <a:sym typeface="Urbanist"/>
              </a:rPr>
              <a:t>example</a:t>
            </a:r>
            <a:r>
              <a:rPr lang="en" sz="1200">
                <a:solidFill>
                  <a:schemeClr val="lt1"/>
                </a:solidFill>
                <a:latin typeface="Urbanist"/>
                <a:ea typeface="Urbanist"/>
                <a:cs typeface="Urbanist"/>
                <a:sym typeface="Urbanist"/>
              </a:rPr>
              <a:t> on my JS server and DB stuff, I spent a long time trying to map it out. I talked to Jack, Chat GPT, Boon, and other places to just understand the flow. I then drew it on paper figuring out how the code will be mapped, then I produced the back end over the span of a couple of months with all my information.</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461" name="Google Shape;461;p44"/>
          <p:cNvSpPr txBox="1"/>
          <p:nvPr/>
        </p:nvSpPr>
        <p:spPr>
          <a:xfrm>
            <a:off x="228600" y="2776200"/>
            <a:ext cx="8539200" cy="22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Overview for whole project went</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Idea and iteration</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Prototype</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Redo everything</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Restart Idea and iteration</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Begin to build the whole thing</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Realize I need a game</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Build said Game</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Rebuild from scratch even better</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Here we are now</a:t>
            </a:r>
            <a:endParaRPr sz="1200">
              <a:solidFill>
                <a:schemeClr val="lt1"/>
              </a:solidFill>
              <a:latin typeface="Urbanist"/>
              <a:ea typeface="Urbanist"/>
              <a:cs typeface="Urbanist"/>
              <a:sym typeface="Urbanis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5"/>
          <p:cNvSpPr txBox="1"/>
          <p:nvPr>
            <p:ph type="title"/>
          </p:nvPr>
        </p:nvSpPr>
        <p:spPr>
          <a:xfrm>
            <a:off x="228600" y="228600"/>
            <a:ext cx="66588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GIMM 290</a:t>
            </a:r>
            <a:endParaRPr/>
          </a:p>
        </p:txBody>
      </p:sp>
      <p:sp>
        <p:nvSpPr>
          <p:cNvPr id="467" name="Google Shape;467;p45"/>
          <p:cNvSpPr txBox="1"/>
          <p:nvPr/>
        </p:nvSpPr>
        <p:spPr>
          <a:xfrm>
            <a:off x="228600" y="1373775"/>
            <a:ext cx="8539200" cy="22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In this class I prototyped a multiplayer alien fishing game, and started developing using the current networking framework of fishnet. I had a simple fishing game with a shop and could play with 2 players on a listen server.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6"/>
          <p:cNvSpPr txBox="1"/>
          <p:nvPr>
            <p:ph type="title"/>
          </p:nvPr>
        </p:nvSpPr>
        <p:spPr>
          <a:xfrm>
            <a:off x="228600" y="228600"/>
            <a:ext cx="66588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GIMM 330</a:t>
            </a:r>
            <a:endParaRPr/>
          </a:p>
        </p:txBody>
      </p:sp>
      <p:sp>
        <p:nvSpPr>
          <p:cNvPr id="473" name="Google Shape;473;p46"/>
          <p:cNvSpPr txBox="1"/>
          <p:nvPr/>
        </p:nvSpPr>
        <p:spPr>
          <a:xfrm>
            <a:off x="228600" y="1373775"/>
            <a:ext cx="8539200" cy="222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In Amods 3D modeling I learned how use Maya efficiently. I had dabbled in it before, but as of right now for this game, I have only created one model. It is a 2 piece handgun model which will be animated and fit into my project once I get to the asset stage.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474" name="Google Shape;474;p46"/>
          <p:cNvPicPr preferRelativeResize="0"/>
          <p:nvPr/>
        </p:nvPicPr>
        <p:blipFill>
          <a:blip r:embed="rId3">
            <a:alphaModFix/>
          </a:blip>
          <a:stretch>
            <a:fillRect/>
          </a:stretch>
        </p:blipFill>
        <p:spPr>
          <a:xfrm>
            <a:off x="4768569" y="1855319"/>
            <a:ext cx="4258724" cy="2688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7"/>
          <p:cNvSpPr txBox="1"/>
          <p:nvPr>
            <p:ph type="title"/>
          </p:nvPr>
        </p:nvSpPr>
        <p:spPr>
          <a:xfrm>
            <a:off x="228600" y="228600"/>
            <a:ext cx="66588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GIMM 350</a:t>
            </a:r>
            <a:endParaRPr/>
          </a:p>
        </p:txBody>
      </p:sp>
      <p:sp>
        <p:nvSpPr>
          <p:cNvPr id="480" name="Google Shape;480;p47"/>
          <p:cNvSpPr txBox="1"/>
          <p:nvPr/>
        </p:nvSpPr>
        <p:spPr>
          <a:xfrm>
            <a:off x="63650" y="781050"/>
            <a:ext cx="8539200" cy="222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chemeClr val="lt1"/>
                </a:solidFill>
                <a:latin typeface="Urbanist"/>
                <a:ea typeface="Urbanist"/>
                <a:cs typeface="Urbanist"/>
                <a:sym typeface="Urbanist"/>
              </a:rPr>
              <a:t>In GIMM 350 I completely flipped my design for my game. I decided to create a coop 1st person shooter in a space I hadn't seen filled. My original level design and work in this class was on the backend and unity integration. I had a </a:t>
            </a:r>
            <a:r>
              <a:rPr lang="en" sz="1500">
                <a:solidFill>
                  <a:schemeClr val="lt1"/>
                </a:solidFill>
                <a:latin typeface="Urbanist"/>
                <a:ea typeface="Urbanist"/>
                <a:cs typeface="Urbanist"/>
                <a:sym typeface="Urbanist"/>
              </a:rPr>
              <a:t>Login</a:t>
            </a:r>
            <a:r>
              <a:rPr lang="en" sz="1500">
                <a:solidFill>
                  <a:schemeClr val="lt1"/>
                </a:solidFill>
                <a:latin typeface="Urbanist"/>
                <a:ea typeface="Urbanist"/>
                <a:cs typeface="Urbanist"/>
                <a:sym typeface="Urbanist"/>
              </a:rPr>
              <a:t> and servers on the cloud, and player management through my own backend called Foxtooth. By the end of the semester I realized I needed actually some gameplay. So I created a simple shooting range.</a:t>
            </a:r>
            <a:endParaRPr sz="1500">
              <a:solidFill>
                <a:schemeClr val="lt1"/>
              </a:solidFill>
              <a:latin typeface="Urbanist"/>
              <a:ea typeface="Urbanist"/>
              <a:cs typeface="Urbanist"/>
              <a:sym typeface="Urbanist"/>
            </a:endParaRPr>
          </a:p>
          <a:p>
            <a:pPr indent="0" lvl="0" marL="0" marR="0" rtl="0" algn="l">
              <a:lnSpc>
                <a:spcPct val="100000"/>
              </a:lnSpc>
              <a:spcBef>
                <a:spcPts val="0"/>
              </a:spcBef>
              <a:spcAft>
                <a:spcPts val="0"/>
              </a:spcAft>
              <a:buNone/>
            </a:pPr>
            <a:r>
              <a:t/>
            </a:r>
            <a:endParaRPr sz="1500">
              <a:solidFill>
                <a:schemeClr val="lt1"/>
              </a:solidFill>
              <a:latin typeface="Urbanist"/>
              <a:ea typeface="Urbanist"/>
              <a:cs typeface="Urbanist"/>
              <a:sym typeface="Urbanist"/>
            </a:endParaRPr>
          </a:p>
          <a:p>
            <a:pPr indent="0" lvl="0" marL="0" marR="0" rtl="0" algn="l">
              <a:lnSpc>
                <a:spcPct val="100000"/>
              </a:lnSpc>
              <a:spcBef>
                <a:spcPts val="0"/>
              </a:spcBef>
              <a:spcAft>
                <a:spcPts val="0"/>
              </a:spcAft>
              <a:buNone/>
            </a:pPr>
            <a:r>
              <a:rPr lang="en" sz="1500">
                <a:solidFill>
                  <a:schemeClr val="lt1"/>
                </a:solidFill>
                <a:latin typeface="Urbanist"/>
                <a:ea typeface="Urbanist"/>
                <a:cs typeface="Urbanist"/>
                <a:sym typeface="Urbanist"/>
              </a:rPr>
              <a:t>The next 3 slides will be quickly over code I developed in this class</a:t>
            </a:r>
            <a:endParaRPr sz="1500">
              <a:solidFill>
                <a:schemeClr val="lt1"/>
              </a:solidFill>
              <a:latin typeface="Urbanist"/>
              <a:ea typeface="Urbanist"/>
              <a:cs typeface="Urbanist"/>
              <a:sym typeface="Urbanist"/>
            </a:endParaRPr>
          </a:p>
        </p:txBody>
      </p:sp>
      <p:pic>
        <p:nvPicPr>
          <p:cNvPr id="481" name="Google Shape;481;p47"/>
          <p:cNvPicPr preferRelativeResize="0"/>
          <p:nvPr/>
        </p:nvPicPr>
        <p:blipFill>
          <a:blip r:embed="rId3">
            <a:alphaModFix/>
          </a:blip>
          <a:stretch>
            <a:fillRect/>
          </a:stretch>
        </p:blipFill>
        <p:spPr>
          <a:xfrm>
            <a:off x="7295375" y="3811988"/>
            <a:ext cx="1848625" cy="1315126"/>
          </a:xfrm>
          <a:prstGeom prst="rect">
            <a:avLst/>
          </a:prstGeom>
          <a:noFill/>
          <a:ln>
            <a:noFill/>
          </a:ln>
        </p:spPr>
      </p:pic>
      <p:pic>
        <p:nvPicPr>
          <p:cNvPr id="482" name="Google Shape;482;p47"/>
          <p:cNvPicPr preferRelativeResize="0"/>
          <p:nvPr/>
        </p:nvPicPr>
        <p:blipFill>
          <a:blip r:embed="rId4">
            <a:alphaModFix/>
          </a:blip>
          <a:stretch>
            <a:fillRect/>
          </a:stretch>
        </p:blipFill>
        <p:spPr>
          <a:xfrm>
            <a:off x="4552050" y="3795638"/>
            <a:ext cx="2743324" cy="1347850"/>
          </a:xfrm>
          <a:prstGeom prst="rect">
            <a:avLst/>
          </a:prstGeom>
          <a:noFill/>
          <a:ln>
            <a:noFill/>
          </a:ln>
        </p:spPr>
      </p:pic>
      <p:pic>
        <p:nvPicPr>
          <p:cNvPr id="483" name="Google Shape;483;p47"/>
          <p:cNvPicPr preferRelativeResize="0"/>
          <p:nvPr/>
        </p:nvPicPr>
        <p:blipFill rotWithShape="1">
          <a:blip r:embed="rId5">
            <a:alphaModFix/>
          </a:blip>
          <a:srcRect b="0" l="33876" r="34449" t="0"/>
          <a:stretch/>
        </p:blipFill>
        <p:spPr>
          <a:xfrm>
            <a:off x="3732725" y="3710275"/>
            <a:ext cx="819326" cy="1416850"/>
          </a:xfrm>
          <a:prstGeom prst="rect">
            <a:avLst/>
          </a:prstGeom>
          <a:noFill/>
          <a:ln>
            <a:noFill/>
          </a:ln>
        </p:spPr>
      </p:pic>
      <p:pic>
        <p:nvPicPr>
          <p:cNvPr id="484" name="Google Shape;484;p47" title="Foxtooth.mp4">
            <a:hlinkClick r:id="rId6"/>
          </p:cNvPr>
          <p:cNvPicPr preferRelativeResize="0"/>
          <p:nvPr/>
        </p:nvPicPr>
        <p:blipFill>
          <a:blip r:embed="rId7">
            <a:alphaModFix/>
          </a:blip>
          <a:stretch>
            <a:fillRect/>
          </a:stretch>
        </p:blipFill>
        <p:spPr>
          <a:xfrm>
            <a:off x="1649125" y="3548625"/>
            <a:ext cx="2083600" cy="1562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4"/>
                                        </p:tgtEl>
                                        <p:attrNameLst>
                                          <p:attrName>style.visibility</p:attrName>
                                        </p:attrNameLst>
                                      </p:cBhvr>
                                      <p:to>
                                        <p:strVal val="visible"/>
                                      </p:to>
                                    </p:set>
                                    <p:animEffect filter="fade" transition="in">
                                      <p:cBhvr>
                                        <p:cTn dur="1000"/>
                                        <p:tgtEl>
                                          <p:spTgt spid="4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8"/>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JS Backend</a:t>
            </a:r>
            <a:endParaRPr/>
          </a:p>
        </p:txBody>
      </p:sp>
      <p:sp>
        <p:nvSpPr>
          <p:cNvPr id="490" name="Google Shape;490;p48"/>
          <p:cNvSpPr txBox="1"/>
          <p:nvPr/>
        </p:nvSpPr>
        <p:spPr>
          <a:xfrm>
            <a:off x="255450" y="909775"/>
            <a:ext cx="8539200" cy="30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How this </a:t>
            </a:r>
            <a:r>
              <a:rPr lang="en" sz="1200">
                <a:solidFill>
                  <a:schemeClr val="lt1"/>
                </a:solidFill>
                <a:latin typeface="Urbanist"/>
                <a:ea typeface="Urbanist"/>
                <a:cs typeface="Urbanist"/>
                <a:sym typeface="Urbanist"/>
              </a:rPr>
              <a:t>backend</a:t>
            </a:r>
            <a:r>
              <a:rPr lang="en" sz="1200">
                <a:solidFill>
                  <a:schemeClr val="lt1"/>
                </a:solidFill>
                <a:latin typeface="Urbanist"/>
                <a:ea typeface="Urbanist"/>
                <a:cs typeface="Urbanist"/>
                <a:sym typeface="Urbanist"/>
              </a:rPr>
              <a:t> works, is we use node JS to expose our server to http. So as long as you have a secure IP </a:t>
            </a:r>
            <a:r>
              <a:rPr lang="en" sz="1200">
                <a:solidFill>
                  <a:schemeClr val="lt1"/>
                </a:solidFill>
                <a:latin typeface="Urbanist"/>
                <a:ea typeface="Urbanist"/>
                <a:cs typeface="Urbanist"/>
                <a:sym typeface="Urbanist"/>
              </a:rPr>
              <a:t>address</a:t>
            </a:r>
            <a:r>
              <a:rPr lang="en" sz="1200">
                <a:solidFill>
                  <a:schemeClr val="lt1"/>
                </a:solidFill>
                <a:latin typeface="Urbanist"/>
                <a:ea typeface="Urbanist"/>
                <a:cs typeface="Urbanist"/>
                <a:sym typeface="Urbanist"/>
              </a:rPr>
              <a:t> you can access the backend online, and send commands to it and such. So all versions of the game connect to it via HTTP and then send commands to the </a:t>
            </a:r>
            <a:r>
              <a:rPr lang="en" sz="1200">
                <a:solidFill>
                  <a:schemeClr val="lt1"/>
                </a:solidFill>
                <a:latin typeface="Urbanist"/>
                <a:ea typeface="Urbanist"/>
                <a:cs typeface="Urbanist"/>
                <a:sym typeface="Urbanist"/>
              </a:rPr>
              <a:t>server to register it to the database.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My node JS backend is made up of 20 scripts, all working together to interact with a SQL database made up of 8 tables which manages all Player accounts, friendships, invites, server, and security.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I have also hooked unity into unity into the JS backend which allows</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Players to create accounts, login, and play the game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My JS server, Database, and game servers are all currently online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and active on AWS. </a:t>
            </a:r>
            <a:endParaRPr sz="1200">
              <a:solidFill>
                <a:schemeClr val="lt1"/>
              </a:solidFill>
              <a:latin typeface="Urbanist"/>
              <a:ea typeface="Urbanist"/>
              <a:cs typeface="Urbanist"/>
              <a:sym typeface="Urbanist"/>
            </a:endParaRPr>
          </a:p>
        </p:txBody>
      </p:sp>
      <p:pic>
        <p:nvPicPr>
          <p:cNvPr id="491" name="Google Shape;491;p48" title="image.png"/>
          <p:cNvPicPr preferRelativeResize="0"/>
          <p:nvPr/>
        </p:nvPicPr>
        <p:blipFill>
          <a:blip r:embed="rId3">
            <a:alphaModFix/>
          </a:blip>
          <a:stretch>
            <a:fillRect/>
          </a:stretch>
        </p:blipFill>
        <p:spPr>
          <a:xfrm>
            <a:off x="5395550" y="1936525"/>
            <a:ext cx="3748449" cy="32384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9"/>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Weapon Scriptable Obj</a:t>
            </a:r>
            <a:endParaRPr/>
          </a:p>
        </p:txBody>
      </p:sp>
      <p:pic>
        <p:nvPicPr>
          <p:cNvPr id="497" name="Google Shape;497;p49"/>
          <p:cNvPicPr preferRelativeResize="0"/>
          <p:nvPr/>
        </p:nvPicPr>
        <p:blipFill>
          <a:blip r:embed="rId3">
            <a:alphaModFix/>
          </a:blip>
          <a:stretch>
            <a:fillRect/>
          </a:stretch>
        </p:blipFill>
        <p:spPr>
          <a:xfrm>
            <a:off x="5246075" y="1105650"/>
            <a:ext cx="3489451" cy="3929750"/>
          </a:xfrm>
          <a:prstGeom prst="rect">
            <a:avLst/>
          </a:prstGeom>
          <a:noFill/>
          <a:ln>
            <a:noFill/>
          </a:ln>
        </p:spPr>
      </p:pic>
      <p:sp>
        <p:nvSpPr>
          <p:cNvPr id="498" name="Google Shape;498;p49"/>
          <p:cNvSpPr txBox="1"/>
          <p:nvPr/>
        </p:nvSpPr>
        <p:spPr>
          <a:xfrm>
            <a:off x="228600" y="1072850"/>
            <a:ext cx="3061200" cy="13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What allows me to create and manage weapons so quickly</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0"/>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Unity &amp; Game side</a:t>
            </a:r>
            <a:endParaRPr/>
          </a:p>
        </p:txBody>
      </p:sp>
      <p:sp>
        <p:nvSpPr>
          <p:cNvPr id="504" name="Google Shape;504;p50"/>
          <p:cNvSpPr txBox="1"/>
          <p:nvPr/>
        </p:nvSpPr>
        <p:spPr>
          <a:xfrm>
            <a:off x="192500" y="897200"/>
            <a:ext cx="8539200" cy="30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Much of my current game code in unity is all just built around communicating with the JS server. We do this by using Unity Web Requests, </a:t>
            </a:r>
            <a:r>
              <a:rPr lang="en" sz="1200">
                <a:solidFill>
                  <a:schemeClr val="lt1"/>
                </a:solidFill>
                <a:latin typeface="Urbanist"/>
                <a:ea typeface="Urbanist"/>
                <a:cs typeface="Urbanist"/>
                <a:sym typeface="Urbanist"/>
              </a:rPr>
              <a:t>which</a:t>
            </a:r>
            <a:r>
              <a:rPr lang="en" sz="1200">
                <a:solidFill>
                  <a:schemeClr val="lt1"/>
                </a:solidFill>
                <a:latin typeface="Urbanist"/>
                <a:ea typeface="Urbanist"/>
                <a:cs typeface="Urbanist"/>
                <a:sym typeface="Urbanist"/>
              </a:rPr>
              <a:t> allow you to access http and https from inside unity</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This is my Login Function for my game.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The client Inputs their login information and sends it to the JS Server</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The server checks it against the database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If its validated, it finds a game server and connects them to a open port.</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505" name="Google Shape;505;p50" title="login.png"/>
          <p:cNvPicPr preferRelativeResize="0"/>
          <p:nvPr/>
        </p:nvPicPr>
        <p:blipFill>
          <a:blip r:embed="rId3">
            <a:alphaModFix/>
          </a:blip>
          <a:stretch>
            <a:fillRect/>
          </a:stretch>
        </p:blipFill>
        <p:spPr>
          <a:xfrm>
            <a:off x="5161400" y="1402525"/>
            <a:ext cx="3951125" cy="3509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1"/>
          <p:cNvSpPr txBox="1"/>
          <p:nvPr>
            <p:ph type="title"/>
          </p:nvPr>
        </p:nvSpPr>
        <p:spPr>
          <a:xfrm>
            <a:off x="228600" y="228600"/>
            <a:ext cx="66588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GIMM 360</a:t>
            </a:r>
            <a:endParaRPr/>
          </a:p>
        </p:txBody>
      </p:sp>
      <p:sp>
        <p:nvSpPr>
          <p:cNvPr id="511" name="Google Shape;511;p51"/>
          <p:cNvSpPr txBox="1"/>
          <p:nvPr/>
        </p:nvSpPr>
        <p:spPr>
          <a:xfrm>
            <a:off x="63650" y="781050"/>
            <a:ext cx="8539200" cy="222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chemeClr val="lt1"/>
                </a:solidFill>
                <a:latin typeface="Urbanist"/>
                <a:ea typeface="Urbanist"/>
                <a:cs typeface="Urbanist"/>
                <a:sym typeface="Urbanist"/>
              </a:rPr>
              <a:t>In GIMM 360 I mostly worked in VCV rack for some audio in my game. </a:t>
            </a:r>
            <a:r>
              <a:rPr lang="en" sz="1500">
                <a:solidFill>
                  <a:schemeClr val="lt1"/>
                </a:solidFill>
                <a:latin typeface="Urbanist"/>
                <a:ea typeface="Urbanist"/>
                <a:cs typeface="Urbanist"/>
                <a:sym typeface="Urbanist"/>
              </a:rPr>
              <a:t>Honestly</a:t>
            </a:r>
            <a:r>
              <a:rPr lang="en" sz="1500">
                <a:solidFill>
                  <a:schemeClr val="lt1"/>
                </a:solidFill>
                <a:latin typeface="Urbanist"/>
                <a:ea typeface="Urbanist"/>
                <a:cs typeface="Urbanist"/>
                <a:sym typeface="Urbanist"/>
              </a:rPr>
              <a:t> most the audio developed in vcv </a:t>
            </a:r>
            <a:r>
              <a:rPr lang="en" sz="1500">
                <a:solidFill>
                  <a:schemeClr val="lt1"/>
                </a:solidFill>
                <a:latin typeface="Urbanist"/>
                <a:ea typeface="Urbanist"/>
                <a:cs typeface="Urbanist"/>
                <a:sym typeface="Urbanist"/>
              </a:rPr>
              <a:t>did not</a:t>
            </a:r>
            <a:r>
              <a:rPr lang="en" sz="1500">
                <a:solidFill>
                  <a:schemeClr val="lt1"/>
                </a:solidFill>
                <a:latin typeface="Urbanist"/>
                <a:ea typeface="Urbanist"/>
                <a:cs typeface="Urbanist"/>
                <a:sym typeface="Urbanist"/>
              </a:rPr>
              <a:t> find a place in my game. But many of the sound effect I created in this class did. It helps immerse into the game and the sounds of all of it. </a:t>
            </a:r>
            <a:endParaRPr sz="1500">
              <a:solidFill>
                <a:schemeClr val="lt1"/>
              </a:solidFill>
              <a:latin typeface="Urbanist"/>
              <a:ea typeface="Urbanist"/>
              <a:cs typeface="Urbanist"/>
              <a:sym typeface="Urbanist"/>
            </a:endParaRPr>
          </a:p>
        </p:txBody>
      </p:sp>
      <p:pic>
        <p:nvPicPr>
          <p:cNvPr id="512" name="Google Shape;512;p51" title="AudioShow.mp4">
            <a:hlinkClick r:id="rId3"/>
          </p:cNvPr>
          <p:cNvPicPr preferRelativeResize="0"/>
          <p:nvPr/>
        </p:nvPicPr>
        <p:blipFill>
          <a:blip r:embed="rId4">
            <a:alphaModFix/>
          </a:blip>
          <a:stretch>
            <a:fillRect/>
          </a:stretch>
        </p:blipFill>
        <p:spPr>
          <a:xfrm>
            <a:off x="5767950" y="2854775"/>
            <a:ext cx="3234418" cy="1828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10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2"/>
          <p:cNvSpPr txBox="1"/>
          <p:nvPr>
            <p:ph type="title"/>
          </p:nvPr>
        </p:nvSpPr>
        <p:spPr>
          <a:xfrm>
            <a:off x="228600" y="228600"/>
            <a:ext cx="66588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GIMM 370</a:t>
            </a:r>
            <a:endParaRPr/>
          </a:p>
        </p:txBody>
      </p:sp>
      <p:sp>
        <p:nvSpPr>
          <p:cNvPr id="518" name="Google Shape;518;p52"/>
          <p:cNvSpPr txBox="1"/>
          <p:nvPr/>
        </p:nvSpPr>
        <p:spPr>
          <a:xfrm>
            <a:off x="63650" y="781050"/>
            <a:ext cx="8539200" cy="222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chemeClr val="lt1"/>
                </a:solidFill>
                <a:latin typeface="Urbanist"/>
                <a:ea typeface="Urbanist"/>
                <a:cs typeface="Urbanist"/>
                <a:sym typeface="Urbanist"/>
              </a:rPr>
              <a:t>In GIMM 370, I worked on a lot of modeling. I created a hero player asset, with many many decorations for that arena and lobby areas. </a:t>
            </a:r>
            <a:endParaRPr sz="1500">
              <a:solidFill>
                <a:schemeClr val="lt1"/>
              </a:solidFill>
              <a:latin typeface="Urbanist"/>
              <a:ea typeface="Urbanist"/>
              <a:cs typeface="Urbanist"/>
              <a:sym typeface="Urbanist"/>
            </a:endParaRPr>
          </a:p>
        </p:txBody>
      </p:sp>
      <p:pic>
        <p:nvPicPr>
          <p:cNvPr id="519" name="Google Shape;519;p52"/>
          <p:cNvPicPr preferRelativeResize="0"/>
          <p:nvPr/>
        </p:nvPicPr>
        <p:blipFill>
          <a:blip r:embed="rId3">
            <a:alphaModFix/>
          </a:blip>
          <a:stretch>
            <a:fillRect/>
          </a:stretch>
        </p:blipFill>
        <p:spPr>
          <a:xfrm>
            <a:off x="0" y="3314550"/>
            <a:ext cx="5772925" cy="1828950"/>
          </a:xfrm>
          <a:prstGeom prst="rect">
            <a:avLst/>
          </a:prstGeom>
          <a:noFill/>
          <a:ln>
            <a:noFill/>
          </a:ln>
        </p:spPr>
      </p:pic>
      <p:pic>
        <p:nvPicPr>
          <p:cNvPr id="520" name="Google Shape;520;p52"/>
          <p:cNvPicPr preferRelativeResize="0"/>
          <p:nvPr/>
        </p:nvPicPr>
        <p:blipFill>
          <a:blip r:embed="rId4">
            <a:alphaModFix/>
          </a:blip>
          <a:stretch>
            <a:fillRect/>
          </a:stretch>
        </p:blipFill>
        <p:spPr>
          <a:xfrm>
            <a:off x="6080700" y="3314550"/>
            <a:ext cx="3472962" cy="18289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3"/>
          <p:cNvSpPr txBox="1"/>
          <p:nvPr>
            <p:ph type="title"/>
          </p:nvPr>
        </p:nvSpPr>
        <p:spPr>
          <a:xfrm>
            <a:off x="228600" y="228600"/>
            <a:ext cx="66588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GIMM 375</a:t>
            </a:r>
            <a:endParaRPr/>
          </a:p>
        </p:txBody>
      </p:sp>
      <p:sp>
        <p:nvSpPr>
          <p:cNvPr id="526" name="Google Shape;526;p53"/>
          <p:cNvSpPr txBox="1"/>
          <p:nvPr/>
        </p:nvSpPr>
        <p:spPr>
          <a:xfrm>
            <a:off x="63650" y="781050"/>
            <a:ext cx="8539200" cy="222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chemeClr val="lt1"/>
                </a:solidFill>
                <a:latin typeface="Urbanist"/>
                <a:ea typeface="Urbanist"/>
                <a:cs typeface="Urbanist"/>
                <a:sym typeface="Urbanist"/>
              </a:rPr>
              <a:t>For this class I created lots of cool shaders and I also decided to delve into HLSL as well. </a:t>
            </a:r>
            <a:br>
              <a:rPr lang="en" sz="1500">
                <a:solidFill>
                  <a:schemeClr val="lt1"/>
                </a:solidFill>
                <a:latin typeface="Urbanist"/>
                <a:ea typeface="Urbanist"/>
                <a:cs typeface="Urbanist"/>
                <a:sym typeface="Urbanist"/>
              </a:rPr>
            </a:br>
            <a:r>
              <a:rPr lang="en" sz="1500">
                <a:solidFill>
                  <a:schemeClr val="lt1"/>
                </a:solidFill>
                <a:latin typeface="Urbanist"/>
                <a:ea typeface="Urbanist"/>
                <a:cs typeface="Urbanist"/>
                <a:sym typeface="Urbanist"/>
              </a:rPr>
              <a:t>My tunnel, </a:t>
            </a:r>
            <a:r>
              <a:rPr lang="en" sz="1500">
                <a:solidFill>
                  <a:schemeClr val="lt1"/>
                </a:solidFill>
                <a:latin typeface="Urbanist"/>
                <a:ea typeface="Urbanist"/>
                <a:cs typeface="Urbanist"/>
                <a:sym typeface="Urbanist"/>
              </a:rPr>
              <a:t>void pond</a:t>
            </a:r>
            <a:r>
              <a:rPr lang="en" sz="1500">
                <a:solidFill>
                  <a:schemeClr val="lt1"/>
                </a:solidFill>
                <a:latin typeface="Urbanist"/>
                <a:ea typeface="Urbanist"/>
                <a:cs typeface="Urbanist"/>
                <a:sym typeface="Urbanist"/>
              </a:rPr>
              <a:t>, and crystals are all shaders in game. I also have a boss which is procedurally animated. </a:t>
            </a:r>
            <a:endParaRPr sz="1500">
              <a:solidFill>
                <a:schemeClr val="lt1"/>
              </a:solidFill>
              <a:latin typeface="Urbanist"/>
              <a:ea typeface="Urbanist"/>
              <a:cs typeface="Urbanist"/>
              <a:sym typeface="Urbanist"/>
            </a:endParaRPr>
          </a:p>
          <a:p>
            <a:pPr indent="0" lvl="0" marL="0" marR="0" rtl="0" algn="l">
              <a:lnSpc>
                <a:spcPct val="100000"/>
              </a:lnSpc>
              <a:spcBef>
                <a:spcPts val="0"/>
              </a:spcBef>
              <a:spcAft>
                <a:spcPts val="0"/>
              </a:spcAft>
              <a:buNone/>
            </a:pPr>
            <a:r>
              <a:rPr lang="en" sz="1500">
                <a:solidFill>
                  <a:schemeClr val="lt1"/>
                </a:solidFill>
                <a:latin typeface="Urbanist"/>
                <a:ea typeface="Urbanist"/>
                <a:cs typeface="Urbanist"/>
                <a:sym typeface="Urbanist"/>
              </a:rPr>
              <a:t>My main menu has a procedurally animated with the snake guy, and </a:t>
            </a:r>
            <a:r>
              <a:rPr lang="en" sz="1500">
                <a:solidFill>
                  <a:schemeClr val="lt1"/>
                </a:solidFill>
                <a:latin typeface="Urbanist"/>
                <a:ea typeface="Urbanist"/>
                <a:cs typeface="Urbanist"/>
                <a:sym typeface="Urbanist"/>
              </a:rPr>
              <a:t>always</a:t>
            </a:r>
            <a:r>
              <a:rPr lang="en" sz="1500">
                <a:solidFill>
                  <a:schemeClr val="lt1"/>
                </a:solidFill>
                <a:latin typeface="Urbanist"/>
                <a:ea typeface="Urbanist"/>
                <a:cs typeface="Urbanist"/>
                <a:sym typeface="Urbanist"/>
              </a:rPr>
              <a:t> ticking numbers</a:t>
            </a:r>
            <a:endParaRPr sz="1500">
              <a:solidFill>
                <a:schemeClr val="lt1"/>
              </a:solidFill>
              <a:latin typeface="Urbanist"/>
              <a:ea typeface="Urbanist"/>
              <a:cs typeface="Urbanist"/>
              <a:sym typeface="Urbanist"/>
            </a:endParaRPr>
          </a:p>
          <a:p>
            <a:pPr indent="0" lvl="0" marL="0" marR="0" rtl="0" algn="l">
              <a:lnSpc>
                <a:spcPct val="100000"/>
              </a:lnSpc>
              <a:spcBef>
                <a:spcPts val="0"/>
              </a:spcBef>
              <a:spcAft>
                <a:spcPts val="0"/>
              </a:spcAft>
              <a:buNone/>
            </a:pPr>
            <a:r>
              <a:rPr lang="en" sz="1500">
                <a:solidFill>
                  <a:schemeClr val="lt1"/>
                </a:solidFill>
                <a:latin typeface="Urbanist"/>
                <a:ea typeface="Urbanist"/>
                <a:cs typeface="Urbanist"/>
                <a:sym typeface="Urbanist"/>
              </a:rPr>
              <a:t>TESTING</a:t>
            </a:r>
            <a:endParaRPr sz="1500">
              <a:solidFill>
                <a:schemeClr val="lt1"/>
              </a:solidFill>
              <a:latin typeface="Urbanist"/>
              <a:ea typeface="Urbanist"/>
              <a:cs typeface="Urbanist"/>
              <a:sym typeface="Urbanist"/>
            </a:endParaRPr>
          </a:p>
        </p:txBody>
      </p:sp>
      <p:pic>
        <p:nvPicPr>
          <p:cNvPr id="527" name="Google Shape;527;p53" title="CrystalShader.mp4">
            <a:hlinkClick r:id="rId3"/>
          </p:cNvPr>
          <p:cNvPicPr preferRelativeResize="0"/>
          <p:nvPr/>
        </p:nvPicPr>
        <p:blipFill>
          <a:blip r:embed="rId4">
            <a:alphaModFix/>
          </a:blip>
          <a:stretch>
            <a:fillRect/>
          </a:stretch>
        </p:blipFill>
        <p:spPr>
          <a:xfrm>
            <a:off x="7314475" y="1750875"/>
            <a:ext cx="1819400" cy="947600"/>
          </a:xfrm>
          <a:prstGeom prst="rect">
            <a:avLst/>
          </a:prstGeom>
          <a:noFill/>
          <a:ln>
            <a:noFill/>
          </a:ln>
        </p:spPr>
      </p:pic>
      <p:pic>
        <p:nvPicPr>
          <p:cNvPr id="528" name="Google Shape;528;p53" title="VoidPond.mp4">
            <a:hlinkClick r:id="rId5"/>
          </p:cNvPr>
          <p:cNvPicPr preferRelativeResize="0"/>
          <p:nvPr/>
        </p:nvPicPr>
        <p:blipFill>
          <a:blip r:embed="rId6">
            <a:alphaModFix/>
          </a:blip>
          <a:stretch>
            <a:fillRect/>
          </a:stretch>
        </p:blipFill>
        <p:spPr>
          <a:xfrm>
            <a:off x="6720100" y="3867975"/>
            <a:ext cx="2413775" cy="1275525"/>
          </a:xfrm>
          <a:prstGeom prst="rect">
            <a:avLst/>
          </a:prstGeom>
          <a:noFill/>
          <a:ln>
            <a:noFill/>
          </a:ln>
        </p:spPr>
      </p:pic>
      <p:pic>
        <p:nvPicPr>
          <p:cNvPr id="529" name="Google Shape;529;p53" title="WallShader.mp4">
            <a:hlinkClick r:id="rId7"/>
          </p:cNvPr>
          <p:cNvPicPr preferRelativeResize="0"/>
          <p:nvPr/>
        </p:nvPicPr>
        <p:blipFill>
          <a:blip r:embed="rId8">
            <a:alphaModFix/>
          </a:blip>
          <a:stretch>
            <a:fillRect/>
          </a:stretch>
        </p:blipFill>
        <p:spPr>
          <a:xfrm>
            <a:off x="7091875" y="2698475"/>
            <a:ext cx="2042000" cy="1169500"/>
          </a:xfrm>
          <a:prstGeom prst="rect">
            <a:avLst/>
          </a:prstGeom>
          <a:noFill/>
          <a:ln>
            <a:noFill/>
          </a:ln>
        </p:spPr>
      </p:pic>
      <p:pic>
        <p:nvPicPr>
          <p:cNvPr id="530" name="Google Shape;530;p53" title="MainMenu.mp4">
            <a:hlinkClick r:id="rId9"/>
          </p:cNvPr>
          <p:cNvPicPr preferRelativeResize="0"/>
          <p:nvPr/>
        </p:nvPicPr>
        <p:blipFill>
          <a:blip r:embed="rId10">
            <a:alphaModFix/>
          </a:blip>
          <a:stretch>
            <a:fillRect/>
          </a:stretch>
        </p:blipFill>
        <p:spPr>
          <a:xfrm>
            <a:off x="3291600" y="3314550"/>
            <a:ext cx="3428506" cy="1828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1000"/>
                                        <p:tgtEl>
                                          <p:spTgt spid="527"/>
                                        </p:tgtEl>
                                      </p:cBhvr>
                                    </p:animEffect>
                                  </p:childTnLst>
                                </p:cTn>
                              </p:par>
                              <p:par>
                                <p:cTn fill="hold" nodeType="with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1000"/>
                                        <p:tgtEl>
                                          <p:spTgt spid="528"/>
                                        </p:tgtEl>
                                      </p:cBhvr>
                                    </p:animEffect>
                                  </p:childTnLst>
                                </p:cTn>
                              </p:par>
                              <p:par>
                                <p:cTn fill="hold" nodeType="with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1000"/>
                                        <p:tgtEl>
                                          <p:spTgt spid="529"/>
                                        </p:tgtEl>
                                      </p:cBhvr>
                                    </p:animEffect>
                                  </p:childTnLst>
                                </p:cTn>
                              </p:par>
                              <p:par>
                                <p:cTn fill="hold" nodeType="with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000"/>
                                        <p:tgtEl>
                                          <p:spTgt spid="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4"/>
          <p:cNvSpPr txBox="1"/>
          <p:nvPr>
            <p:ph type="title"/>
          </p:nvPr>
        </p:nvSpPr>
        <p:spPr>
          <a:xfrm>
            <a:off x="228600" y="228600"/>
            <a:ext cx="66588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UX Testing</a:t>
            </a:r>
            <a:endParaRPr/>
          </a:p>
        </p:txBody>
      </p:sp>
      <p:sp>
        <p:nvSpPr>
          <p:cNvPr id="536" name="Google Shape;536;p54"/>
          <p:cNvSpPr txBox="1"/>
          <p:nvPr/>
        </p:nvSpPr>
        <p:spPr>
          <a:xfrm>
            <a:off x="4094625" y="0"/>
            <a:ext cx="5049600" cy="38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I currently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have a whole lot of testing </a:t>
            </a:r>
            <a:r>
              <a:rPr lang="en" sz="1200">
                <a:solidFill>
                  <a:schemeClr val="lt1"/>
                </a:solidFill>
                <a:latin typeface="Urbanist"/>
                <a:ea typeface="Urbanist"/>
                <a:cs typeface="Urbanist"/>
                <a:sym typeface="Urbanist"/>
              </a:rPr>
              <a:t>actively</a:t>
            </a:r>
            <a:r>
              <a:rPr lang="en" sz="1200">
                <a:solidFill>
                  <a:schemeClr val="lt1"/>
                </a:solidFill>
                <a:latin typeface="Urbanist"/>
                <a:ea typeface="Urbanist"/>
                <a:cs typeface="Urbanist"/>
                <a:sym typeface="Urbanist"/>
              </a:rPr>
              <a:t> </a:t>
            </a:r>
            <a:r>
              <a:rPr lang="en" sz="1200">
                <a:solidFill>
                  <a:schemeClr val="lt1"/>
                </a:solidFill>
                <a:latin typeface="Urbanist"/>
                <a:ea typeface="Urbanist"/>
                <a:cs typeface="Urbanist"/>
                <a:sym typeface="Urbanist"/>
              </a:rPr>
              <a:t>available</a:t>
            </a:r>
            <a:r>
              <a:rPr lang="en" sz="1200">
                <a:solidFill>
                  <a:schemeClr val="lt1"/>
                </a:solidFill>
                <a:latin typeface="Urbanist"/>
                <a:ea typeface="Urbanist"/>
                <a:cs typeface="Urbanist"/>
                <a:sym typeface="Urbanist"/>
              </a:rPr>
              <a:t> for my game, but I was able to grab some statistics which helped me understand some areas I could improve on.</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My demographic was 60% 20 year old players, who frequently play Online multiplayer games often daily</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The average time to create an account was 48 Seconds, and </a:t>
            </a:r>
            <a:r>
              <a:rPr lang="en" sz="1200">
                <a:solidFill>
                  <a:schemeClr val="lt1"/>
                </a:solidFill>
                <a:latin typeface="Urbanist"/>
                <a:ea typeface="Urbanist"/>
                <a:cs typeface="Urbanist"/>
                <a:sym typeface="Urbanist"/>
              </a:rPr>
              <a:t>4/5</a:t>
            </a:r>
            <a:r>
              <a:rPr lang="en" sz="1200">
                <a:solidFill>
                  <a:schemeClr val="lt1"/>
                </a:solidFill>
                <a:latin typeface="Urbanist"/>
                <a:ea typeface="Urbanist"/>
                <a:cs typeface="Urbanist"/>
                <a:sym typeface="Urbanist"/>
              </a:rPr>
              <a:t> Testers entered login details thinking that would create an account. So here I will clarify and emphasize the create account button. But on the other hand we had a account </a:t>
            </a:r>
            <a:r>
              <a:rPr lang="en" sz="1200">
                <a:solidFill>
                  <a:schemeClr val="lt1"/>
                </a:solidFill>
                <a:latin typeface="Urbanist"/>
                <a:ea typeface="Urbanist"/>
                <a:cs typeface="Urbanist"/>
                <a:sym typeface="Urbanist"/>
              </a:rPr>
              <a:t>creation</a:t>
            </a:r>
            <a:r>
              <a:rPr lang="en" sz="1200">
                <a:solidFill>
                  <a:schemeClr val="lt1"/>
                </a:solidFill>
                <a:latin typeface="Urbanist"/>
                <a:ea typeface="Urbanist"/>
                <a:cs typeface="Urbanist"/>
                <a:sym typeface="Urbanist"/>
              </a:rPr>
              <a:t> Ease score of 5/5. It was very easy for testers to create accounts.</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The average missed shots count was 40, and average miss percentage was 80%. My aiming was not </a:t>
            </a:r>
            <a:r>
              <a:rPr lang="en" sz="1200">
                <a:solidFill>
                  <a:schemeClr val="lt1"/>
                </a:solidFill>
                <a:latin typeface="Urbanist"/>
                <a:ea typeface="Urbanist"/>
                <a:cs typeface="Urbanist"/>
                <a:sym typeface="Urbanist"/>
              </a:rPr>
              <a:t>consistent</a:t>
            </a:r>
            <a:r>
              <a:rPr lang="en" sz="1200">
                <a:solidFill>
                  <a:schemeClr val="lt1"/>
                </a:solidFill>
                <a:latin typeface="Urbanist"/>
                <a:ea typeface="Urbanist"/>
                <a:cs typeface="Urbanist"/>
                <a:sym typeface="Urbanist"/>
              </a:rPr>
              <a:t>, and I have since changed the system, as this was not a issue of the players</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My weapon system had a </a:t>
            </a:r>
            <a:r>
              <a:rPr lang="en" sz="1200">
                <a:solidFill>
                  <a:schemeClr val="lt1"/>
                </a:solidFill>
                <a:latin typeface="Urbanist"/>
                <a:ea typeface="Urbanist"/>
                <a:cs typeface="Urbanist"/>
                <a:sym typeface="Urbanist"/>
              </a:rPr>
              <a:t>average</a:t>
            </a:r>
            <a:r>
              <a:rPr lang="en" sz="1200">
                <a:solidFill>
                  <a:schemeClr val="lt1"/>
                </a:solidFill>
                <a:latin typeface="Urbanist"/>
                <a:ea typeface="Urbanist"/>
                <a:cs typeface="Urbanist"/>
                <a:sym typeface="Urbanist"/>
              </a:rPr>
              <a:t> score of 2.33 out of 5 which was mostly </a:t>
            </a:r>
            <a:r>
              <a:rPr lang="en" sz="1200">
                <a:solidFill>
                  <a:schemeClr val="lt1"/>
                </a:solidFill>
                <a:latin typeface="Urbanist"/>
                <a:ea typeface="Urbanist"/>
                <a:cs typeface="Urbanist"/>
                <a:sym typeface="Urbanist"/>
              </a:rPr>
              <a:t>credited</a:t>
            </a:r>
            <a:r>
              <a:rPr lang="en" sz="1200">
                <a:solidFill>
                  <a:schemeClr val="lt1"/>
                </a:solidFill>
                <a:latin typeface="Urbanist"/>
                <a:ea typeface="Urbanist"/>
                <a:cs typeface="Urbanist"/>
                <a:sym typeface="Urbanist"/>
              </a:rPr>
              <a:t> to the high recoil and poor accuracy. With this insight I can easily clean up the system.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304800" lvl="0" marL="457200" rtl="0" algn="l">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Despite the issues my players expressed </a:t>
            </a:r>
            <a:r>
              <a:rPr lang="en" sz="1200">
                <a:solidFill>
                  <a:schemeClr val="lt1"/>
                </a:solidFill>
                <a:latin typeface="Urbanist"/>
                <a:ea typeface="Urbanist"/>
                <a:cs typeface="Urbanist"/>
                <a:sym typeface="Urbanist"/>
              </a:rPr>
              <a:t>interested</a:t>
            </a:r>
            <a:r>
              <a:rPr lang="en" sz="1200">
                <a:solidFill>
                  <a:schemeClr val="lt1"/>
                </a:solidFill>
                <a:latin typeface="Urbanist"/>
                <a:ea typeface="Urbanist"/>
                <a:cs typeface="Urbanist"/>
                <a:sym typeface="Urbanist"/>
              </a:rPr>
              <a:t> in playing a fleshed out version of the test they played. Despite the rough gun system, people seem to like the multiplayer side of things and concept of the game.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537" name="Google Shape;537;p54"/>
          <p:cNvPicPr preferRelativeResize="0"/>
          <p:nvPr/>
        </p:nvPicPr>
        <p:blipFill>
          <a:blip r:embed="rId3">
            <a:alphaModFix/>
          </a:blip>
          <a:stretch>
            <a:fillRect/>
          </a:stretch>
        </p:blipFill>
        <p:spPr>
          <a:xfrm>
            <a:off x="122875" y="2387975"/>
            <a:ext cx="3789825" cy="212712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5"/>
          <p:cNvSpPr txBox="1"/>
          <p:nvPr>
            <p:ph type="title"/>
          </p:nvPr>
        </p:nvSpPr>
        <p:spPr>
          <a:xfrm>
            <a:off x="228600" y="228600"/>
            <a:ext cx="6658800" cy="63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Future Development</a:t>
            </a:r>
            <a:endParaRPr/>
          </a:p>
        </p:txBody>
      </p:sp>
      <p:sp>
        <p:nvSpPr>
          <p:cNvPr id="543" name="Google Shape;543;p55"/>
          <p:cNvSpPr txBox="1"/>
          <p:nvPr/>
        </p:nvSpPr>
        <p:spPr>
          <a:xfrm>
            <a:off x="228600" y="998075"/>
            <a:ext cx="8539200" cy="3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lt1"/>
                </a:solidFill>
                <a:latin typeface="Urbanist"/>
                <a:ea typeface="Urbanist"/>
                <a:cs typeface="Urbanist"/>
                <a:sym typeface="Urbanist"/>
              </a:rPr>
              <a:t>The Future development of Tidal Hunters would be very interesting I have been planning a lot and if I wanted to go over all the ideas I have we would be here too long. So </a:t>
            </a:r>
            <a:r>
              <a:rPr lang="en" sz="1200">
                <a:solidFill>
                  <a:schemeClr val="lt1"/>
                </a:solidFill>
                <a:latin typeface="Urbanist"/>
                <a:ea typeface="Urbanist"/>
                <a:cs typeface="Urbanist"/>
                <a:sym typeface="Urbanist"/>
              </a:rPr>
              <a:t>let's</a:t>
            </a:r>
            <a:r>
              <a:rPr lang="en" sz="1200">
                <a:solidFill>
                  <a:schemeClr val="lt1"/>
                </a:solidFill>
                <a:latin typeface="Urbanist"/>
                <a:ea typeface="Urbanist"/>
                <a:cs typeface="Urbanist"/>
                <a:sym typeface="Urbanist"/>
              </a:rPr>
              <a:t> look to a possible release</a:t>
            </a:r>
            <a:endParaRPr sz="1200">
              <a:solidFill>
                <a:schemeClr val="lt1"/>
              </a:solidFill>
              <a:latin typeface="Urbanist"/>
              <a:ea typeface="Urbanist"/>
              <a:cs typeface="Urbanist"/>
              <a:sym typeface="Urbanist"/>
            </a:endParaRPr>
          </a:p>
          <a:p>
            <a:pPr indent="-304800" lvl="0" marL="457200" rtl="0" algn="l">
              <a:lnSpc>
                <a:spcPct val="115000"/>
              </a:lnSpc>
              <a:spcBef>
                <a:spcPts val="120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Polish current gameplay and get servers back online for multiplayer testing. </a:t>
            </a:r>
            <a:endParaRPr sz="1200">
              <a:solidFill>
                <a:schemeClr val="lt1"/>
              </a:solidFill>
              <a:latin typeface="Urbanist"/>
              <a:ea typeface="Urbanist"/>
              <a:cs typeface="Urbanist"/>
              <a:sym typeface="Urbanist"/>
            </a:endParaRPr>
          </a:p>
          <a:p>
            <a:pPr indent="-304800" lvl="0" marL="457200" rtl="0" algn="l">
              <a:lnSpc>
                <a:spcPct val="115000"/>
              </a:lnSpc>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Create multiple bosses which can be fished up</a:t>
            </a:r>
            <a:endParaRPr sz="1200">
              <a:solidFill>
                <a:schemeClr val="lt1"/>
              </a:solidFill>
              <a:latin typeface="Urbanist"/>
              <a:ea typeface="Urbanist"/>
              <a:cs typeface="Urbanist"/>
              <a:sym typeface="Urbanist"/>
            </a:endParaRPr>
          </a:p>
          <a:p>
            <a:pPr indent="-304800" lvl="0" marL="457200" rtl="0" algn="l">
              <a:lnSpc>
                <a:spcPct val="115000"/>
              </a:lnSpc>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Finish and polish the attachments and weapons</a:t>
            </a:r>
            <a:endParaRPr sz="1200">
              <a:solidFill>
                <a:schemeClr val="lt1"/>
              </a:solidFill>
              <a:latin typeface="Urbanist"/>
              <a:ea typeface="Urbanist"/>
              <a:cs typeface="Urbanist"/>
              <a:sym typeface="Urbanist"/>
            </a:endParaRPr>
          </a:p>
          <a:p>
            <a:pPr indent="-304800" lvl="0" marL="457200" rtl="0" algn="l">
              <a:lnSpc>
                <a:spcPct val="115000"/>
              </a:lnSpc>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Balance</a:t>
            </a:r>
            <a:endParaRPr sz="1200">
              <a:solidFill>
                <a:schemeClr val="lt1"/>
              </a:solidFill>
              <a:latin typeface="Urbanist"/>
              <a:ea typeface="Urbanist"/>
              <a:cs typeface="Urbanist"/>
              <a:sym typeface="Urbanist"/>
            </a:endParaRPr>
          </a:p>
          <a:p>
            <a:pPr indent="-304800" lvl="0" marL="457200" rtl="0" algn="l">
              <a:lnSpc>
                <a:spcPct val="115000"/>
              </a:lnSpc>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Test</a:t>
            </a:r>
            <a:endParaRPr sz="1200">
              <a:solidFill>
                <a:schemeClr val="lt1"/>
              </a:solidFill>
              <a:latin typeface="Urbanist"/>
              <a:ea typeface="Urbanist"/>
              <a:cs typeface="Urbanist"/>
              <a:sym typeface="Urbanist"/>
            </a:endParaRPr>
          </a:p>
          <a:p>
            <a:pPr indent="-304800" lvl="0" marL="457200" rtl="0" algn="l">
              <a:lnSpc>
                <a:spcPct val="115000"/>
              </a:lnSpc>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Integrate lots of lore and “betting drones”</a:t>
            </a:r>
            <a:endParaRPr sz="1200">
              <a:solidFill>
                <a:schemeClr val="lt1"/>
              </a:solidFill>
              <a:latin typeface="Urbanist"/>
              <a:ea typeface="Urbanist"/>
              <a:cs typeface="Urbanist"/>
              <a:sym typeface="Urbanist"/>
            </a:endParaRPr>
          </a:p>
          <a:p>
            <a:pPr indent="-304800" lvl="0" marL="457200" rtl="0" algn="l">
              <a:lnSpc>
                <a:spcPct val="115000"/>
              </a:lnSpc>
              <a:spcBef>
                <a:spcPts val="0"/>
              </a:spcBef>
              <a:spcAft>
                <a:spcPts val="0"/>
              </a:spcAft>
              <a:buClr>
                <a:schemeClr val="lt1"/>
              </a:buClr>
              <a:buSzPts val="1200"/>
              <a:buFont typeface="Urbanist"/>
              <a:buAutoNum type="arabicPeriod"/>
            </a:pPr>
            <a:r>
              <a:rPr lang="en" sz="1200">
                <a:solidFill>
                  <a:schemeClr val="lt1"/>
                </a:solidFill>
                <a:latin typeface="Urbanist"/>
                <a:ea typeface="Urbanist"/>
                <a:cs typeface="Urbanist"/>
                <a:sym typeface="Urbanist"/>
              </a:rPr>
              <a:t>Create a community to build the lore</a:t>
            </a:r>
            <a:endParaRPr sz="1200">
              <a:solidFill>
                <a:schemeClr val="lt1"/>
              </a:solidFill>
              <a:latin typeface="Urbanist"/>
              <a:ea typeface="Urbanist"/>
              <a:cs typeface="Urbanist"/>
              <a:sym typeface="Urbanist"/>
            </a:endParaRPr>
          </a:p>
          <a:p>
            <a:pPr indent="0" lvl="0" marL="0" rtl="0" algn="l">
              <a:lnSpc>
                <a:spcPct val="115000"/>
              </a:lnSpc>
              <a:spcBef>
                <a:spcPts val="1200"/>
              </a:spcBef>
              <a:spcAft>
                <a:spcPts val="0"/>
              </a:spcAft>
              <a:buNone/>
            </a:pPr>
            <a:r>
              <a:t/>
            </a:r>
            <a:endParaRPr sz="1200">
              <a:solidFill>
                <a:schemeClr val="lt1"/>
              </a:solidFill>
              <a:latin typeface="Urbanist"/>
              <a:ea typeface="Urbanist"/>
              <a:cs typeface="Urbanist"/>
              <a:sym typeface="Urbanist"/>
            </a:endParaRPr>
          </a:p>
          <a:p>
            <a:pPr indent="0" lvl="0" marL="0" rtl="0" algn="l">
              <a:lnSpc>
                <a:spcPct val="115000"/>
              </a:lnSpc>
              <a:spcBef>
                <a:spcPts val="1200"/>
              </a:spcBef>
              <a:spcAft>
                <a:spcPts val="0"/>
              </a:spcAft>
              <a:buNone/>
            </a:pPr>
            <a:r>
              <a:rPr lang="en" sz="1200">
                <a:solidFill>
                  <a:schemeClr val="lt1"/>
                </a:solidFill>
                <a:latin typeface="Urbanist"/>
                <a:ea typeface="Urbanist"/>
                <a:cs typeface="Urbanist"/>
                <a:sym typeface="Urbanist"/>
              </a:rPr>
              <a:t>I have so many ideas to build into this game but I </a:t>
            </a:r>
            <a:r>
              <a:rPr lang="en" sz="1200">
                <a:solidFill>
                  <a:schemeClr val="lt1"/>
                </a:solidFill>
                <a:latin typeface="Urbanist"/>
                <a:ea typeface="Urbanist"/>
                <a:cs typeface="Urbanist"/>
                <a:sym typeface="Urbanist"/>
              </a:rPr>
              <a:t>don't</a:t>
            </a:r>
            <a:r>
              <a:rPr lang="en" sz="1200">
                <a:solidFill>
                  <a:schemeClr val="lt1"/>
                </a:solidFill>
                <a:latin typeface="Urbanist"/>
                <a:ea typeface="Urbanist"/>
                <a:cs typeface="Urbanist"/>
                <a:sym typeface="Urbanist"/>
              </a:rPr>
              <a:t> know if I will be able to handle the development alone. We may be looking to adopt this project with my team I work with but for now I will be polishing the current boss and network gameplay</a:t>
            </a:r>
            <a:endParaRPr sz="1200">
              <a:solidFill>
                <a:schemeClr val="lt1"/>
              </a:solidFill>
              <a:latin typeface="Urbanist"/>
              <a:ea typeface="Urbanist"/>
              <a:cs typeface="Urbanist"/>
              <a:sym typeface="Urbanist"/>
            </a:endParaRPr>
          </a:p>
          <a:p>
            <a:pPr indent="0" lvl="0" marL="0" rtl="0" algn="l">
              <a:spcBef>
                <a:spcPts val="1200"/>
              </a:spcBef>
              <a:spcAft>
                <a:spcPts val="0"/>
              </a:spcAft>
              <a:buClr>
                <a:schemeClr val="dk1"/>
              </a:buClr>
              <a:buSzPts val="1100"/>
              <a:buFont typeface="Arial"/>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6"/>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Conclusion</a:t>
            </a:r>
            <a:endParaRPr/>
          </a:p>
        </p:txBody>
      </p:sp>
      <p:sp>
        <p:nvSpPr>
          <p:cNvPr id="549" name="Google Shape;549;p56"/>
          <p:cNvSpPr txBox="1"/>
          <p:nvPr/>
        </p:nvSpPr>
        <p:spPr>
          <a:xfrm>
            <a:off x="228600" y="998075"/>
            <a:ext cx="8539200" cy="3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lt1"/>
                </a:solidFill>
                <a:latin typeface="Urbanist"/>
                <a:ea typeface="Urbanist"/>
                <a:cs typeface="Urbanist"/>
                <a:sym typeface="Urbanist"/>
              </a:rPr>
              <a:t>There’s still a lot I want to build for this game. This has been one of my favorite projects and there are actually tons of systems in the background working that you guys cannot see. For example  I have the attachment system in and working but I didn't have time to model for all of them and stat adjustments. </a:t>
            </a:r>
            <a:endParaRPr sz="1200">
              <a:solidFill>
                <a:schemeClr val="lt1"/>
              </a:solidFill>
              <a:latin typeface="Urbanist"/>
              <a:ea typeface="Urbanist"/>
              <a:cs typeface="Urbanist"/>
              <a:sym typeface="Urbanist"/>
            </a:endParaRPr>
          </a:p>
          <a:p>
            <a:pPr indent="0" lvl="0" marL="0" rtl="0" algn="l">
              <a:lnSpc>
                <a:spcPct val="115000"/>
              </a:lnSpc>
              <a:spcBef>
                <a:spcPts val="1200"/>
              </a:spcBef>
              <a:spcAft>
                <a:spcPts val="0"/>
              </a:spcAft>
              <a:buNone/>
            </a:pPr>
            <a:r>
              <a:rPr lang="en" sz="1200">
                <a:solidFill>
                  <a:schemeClr val="lt1"/>
                </a:solidFill>
                <a:latin typeface="Urbanist"/>
                <a:ea typeface="Urbanist"/>
                <a:cs typeface="Urbanist"/>
                <a:sym typeface="Urbanist"/>
              </a:rPr>
              <a:t>But for now this is Tidal hunters</a:t>
            </a:r>
            <a:endParaRPr sz="1200">
              <a:solidFill>
                <a:schemeClr val="lt1"/>
              </a:solidFill>
              <a:latin typeface="Urbanist"/>
              <a:ea typeface="Urbanist"/>
              <a:cs typeface="Urbanist"/>
              <a:sym typeface="Urbanist"/>
            </a:endParaRPr>
          </a:p>
          <a:p>
            <a:pPr indent="0" lvl="0" marL="0" rtl="0" algn="l">
              <a:lnSpc>
                <a:spcPct val="115000"/>
              </a:lnSpc>
              <a:spcBef>
                <a:spcPts val="1200"/>
              </a:spcBef>
              <a:spcAft>
                <a:spcPts val="0"/>
              </a:spcAft>
              <a:buNone/>
            </a:pPr>
            <a:r>
              <a:t/>
            </a:r>
            <a:endParaRPr sz="1200">
              <a:solidFill>
                <a:schemeClr val="lt1"/>
              </a:solidFill>
              <a:latin typeface="Urbanist"/>
              <a:ea typeface="Urbanist"/>
              <a:cs typeface="Urbanist"/>
              <a:sym typeface="Urbanist"/>
            </a:endParaRPr>
          </a:p>
          <a:p>
            <a:pPr indent="0" lvl="0" marL="0" rtl="0" algn="l">
              <a:lnSpc>
                <a:spcPct val="115000"/>
              </a:lnSpc>
              <a:spcBef>
                <a:spcPts val="120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1200"/>
              </a:spcBef>
              <a:spcAft>
                <a:spcPts val="0"/>
              </a:spcAft>
              <a:buClr>
                <a:schemeClr val="dk1"/>
              </a:buClr>
              <a:buSzPts val="1100"/>
              <a:buFont typeface="Arial"/>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